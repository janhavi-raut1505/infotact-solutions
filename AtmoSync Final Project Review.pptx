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Plus Jakarta Sans"/>
      <p:italic r:id="rId16"/>
    </p:embeddedFont>
    <p:embeddedFont>
      <p:font typeface="Space Grotesk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19750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0" y="647700"/>
            <a:ext cx="1905000" cy="304800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 w="9525">
            <a:solidFill>
              <a:srgbClr val="194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619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704850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704850"/>
            <a:ext cx="16954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BCA Final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365176"/>
            <a:ext cx="1131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Plus Jakarta Sans"/>
              </a:rPr>
              <a:t>INTERNSHIP PROJECT PRESENTATION • 5 SEPT 2026 – 5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17601"/>
            <a:ext cx="960120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AtmoSync: Micro-Climate Arbitrage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59423"/>
            <a:ext cx="113109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Comprehensive Weather Data Generation, EDA, and Power BI Visualization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690562"/>
            <a:ext cx="2583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INFOTACT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57875"/>
            <a:ext cx="1181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TEAM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48375"/>
            <a:ext cx="1181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Janhavi Raut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8112" y="5857875"/>
            <a:ext cx="5060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8112" y="6048375"/>
            <a:ext cx="5060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Ravinder Singh • Soumik Singha Mahapatra • S. Priyanka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096000"/>
            <a:ext cx="1428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Status: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17402"/>
            <a:ext cx="5334000" cy="2594520"/>
          </a:xfrm>
          <a:prstGeom prst="roundRect">
            <a:avLst>
              <a:gd name="adj" fmla="val 58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180332"/>
            <a:ext cx="5334000" cy="286881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31727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494657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765077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75" y="2628007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01 •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What is Micro-Climate Data Analysis?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317527"/>
            <a:ext cx="61757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Understanding Micro-Climates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74727"/>
            <a:ext cx="4800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micro-climate is the climate of a small, specific restricted area—such as a shipping container, greenhouse, or storage unit—that differs from the surrounding general climate.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180457"/>
            <a:ext cx="56292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Purpose of AtmoSync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637657"/>
            <a:ext cx="48006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AtmoSync processes structured weather datasets to simulate, clean, and analyze environmental conditions across 100 isolated containers, enabling clear visibility into temperature and humidity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47950"/>
            <a:ext cx="3505200" cy="2009775"/>
          </a:xfrm>
          <a:prstGeom prst="roundRect">
            <a:avLst>
              <a:gd name="adj" fmla="val 66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47950"/>
            <a:ext cx="3505200" cy="2009775"/>
          </a:xfrm>
          <a:prstGeom prst="roundRect">
            <a:avLst>
              <a:gd name="adj" fmla="val 66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33650"/>
            <a:ext cx="3505200" cy="2238375"/>
          </a:xfrm>
          <a:prstGeom prst="roundRect">
            <a:avLst>
              <a:gd name="adj" fmla="val 59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622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622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8479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02 •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Why Analyze Temperature, Humidity &amp; Location?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3432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Perishable Spoilage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95700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Unmonitored climate variations lead to cargo spoilage, agricultural losses, and reduced product shelf-life.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3432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Need for Systematic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695700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Organizations need structured analytics to classify environmental conditions and detect thermal anomalies.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228975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Geographic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581400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Mapping container locations (latitude/longitude) helps correlate geographical regions with specific temperature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38275"/>
            <a:ext cx="5391150" cy="2119312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438275"/>
            <a:ext cx="5391150" cy="2119312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48087"/>
            <a:ext cx="5391150" cy="2119312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748087"/>
            <a:ext cx="5391150" cy="2119312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167640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29375" y="167640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3986212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29375" y="3986212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03 •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16764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0" u="none">
                <a:solidFill>
                  <a:srgbClr val="0D9488"/>
                </a:solidFill>
                <a:latin typeface="Plus Jakarta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16764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0" u="none">
                <a:solidFill>
                  <a:srgbClr val="0D9488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9862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0" u="none">
                <a:solidFill>
                  <a:srgbClr val="0D9488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9862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0" u="none">
                <a:solidFill>
                  <a:srgbClr val="0D9488"/>
                </a:solidFill>
                <a:latin typeface="Plus Jakarta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3025" y="1676400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Extraction &amp;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1952625"/>
            <a:ext cx="4514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Process source weather data into a clean, container-wise dataset with 5,000 records.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675" y="1676400"/>
            <a:ext cx="5267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Cleaning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675" y="1952625"/>
            <a:ext cx="4514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Remove nulls, handle missing values, and validate schema integrity using Python.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025" y="3986212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Exploratory Data Analysis (EDA)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3025" y="4262437"/>
            <a:ext cx="4514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Calculate statistical summaries, correlations, and climate type distributions.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4675" y="3986212"/>
            <a:ext cx="5267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Interactive Dashboard Visualization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675" y="4262437"/>
            <a:ext cx="4514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Build a professional Microsoft Power BI dashboard for dynamic reporting and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95925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235993"/>
            <a:ext cx="5334000" cy="2233612"/>
          </a:xfrm>
          <a:prstGeom prst="roundRect">
            <a:avLst>
              <a:gd name="adj" fmla="val 6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2357437"/>
            <a:ext cx="5334000" cy="1990725"/>
          </a:xfrm>
          <a:prstGeom prst="roundRect">
            <a:avLst>
              <a:gd name="adj" fmla="val 7655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54673" y="5686425"/>
            <a:ext cx="9525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79903" y="5686425"/>
            <a:ext cx="9525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54673" y="5686425"/>
            <a:ext cx="9525" cy="2190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9903" y="5686425"/>
            <a:ext cx="9525" cy="2190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97943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719387"/>
            <a:ext cx="2381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04 • DATASET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Source &amp; Final Dataset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595" y="5686425"/>
            <a:ext cx="1762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Total Records: </a:t>
            </a:r>
            <a:r>
              <a:rPr sz="1350" b="1" i="0" u="none">
                <a:solidFill>
                  <a:srgbClr val="38BDF8"/>
                </a:solidFill>
                <a:latin typeface="Plus Jakarta Sans"/>
              </a:rP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1191" y="5686425"/>
            <a:ext cx="2321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Total Containers: </a:t>
            </a:r>
            <a:r>
              <a:rPr sz="1350" b="1" i="0" u="none">
                <a:solidFill>
                  <a:srgbClr val="38BDF8"/>
                </a:solidFill>
                <a:latin typeface="Plus Jakarta Sans"/>
              </a:rPr>
              <a:t>100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1431" y="5686425"/>
            <a:ext cx="1571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Columns: </a:t>
            </a:r>
            <a:r>
              <a:rPr sz="1350" b="1" i="0" u="none">
                <a:solidFill>
                  <a:srgbClr val="38BDF8"/>
                </a:solidFill>
                <a:latin typeface="Plus Jakarta Sans"/>
              </a:rPr>
              <a:t>6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036093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Source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426618"/>
            <a:ext cx="48006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GlobalWeatherRepository.csv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— Provided raw weather parameters, meteorological indexes, and regional geographic coordinates.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3157537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Final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3548062"/>
            <a:ext cx="4800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766E"/>
                </a:solidFill>
                <a:latin typeface="Plus Jakarta Sans"/>
              </a:rPr>
              <a:t>AtmoSync_Final_Data.csv</a:t>
            </a:r>
            <a:r>
              <a:rPr sz="1275" b="0" i="0" u="none">
                <a:solidFill>
                  <a:srgbClr val="0F766E"/>
                </a:solidFill>
                <a:latin typeface="Plus Jakarta Sans"/>
              </a:rPr>
              <a:t> — Specifically structured with </a:t>
            </a:r>
            <a:r>
              <a:rPr sz="1275" b="1" i="0" u="none">
                <a:solidFill>
                  <a:srgbClr val="0F766E"/>
                </a:solidFill>
                <a:latin typeface="Plus Jakarta Sans"/>
              </a:rPr>
              <a:t>5,000 records</a:t>
            </a:r>
            <a:r>
              <a:rPr sz="1275" b="0" i="0" u="none">
                <a:solidFill>
                  <a:srgbClr val="0F766E"/>
                </a:solidFill>
                <a:latin typeface="Plus Jakarta Sans"/>
              </a:rPr>
              <a:t> across </a:t>
            </a:r>
            <a:r>
              <a:rPr sz="1275" b="1" i="0" u="none">
                <a:solidFill>
                  <a:srgbClr val="0F766E"/>
                </a:solidFill>
                <a:latin typeface="Plus Jakarta Sans"/>
              </a:rPr>
              <a:t>100 containers</a:t>
            </a:r>
            <a:r>
              <a:rPr sz="1275" b="0" i="0" u="none">
                <a:solidFill>
                  <a:srgbClr val="0F766E"/>
                </a:solidFill>
                <a:latin typeface="Plus Jakarta Sans"/>
              </a:rPr>
              <a:t> and </a:t>
            </a:r>
            <a:r>
              <a:rPr sz="1275" b="1" i="0" u="none">
                <a:solidFill>
                  <a:srgbClr val="0F766E"/>
                </a:solidFill>
                <a:latin typeface="Plus Jakarta Sans"/>
              </a:rPr>
              <a:t>6 core columns</a:t>
            </a:r>
            <a:r>
              <a:rPr sz="1275" b="0" i="0" u="none">
                <a:solidFill>
                  <a:srgbClr val="0F766E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38275"/>
            <a:ext cx="35305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1438275"/>
            <a:ext cx="3530649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1438275"/>
            <a:ext cx="35305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748087"/>
            <a:ext cx="35305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30600" y="3748087"/>
            <a:ext cx="3530649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51750" y="3748087"/>
            <a:ext cx="35305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676400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625" y="1676400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775" y="167640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986212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625" y="3986212"/>
            <a:ext cx="2190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775" y="3986212"/>
            <a:ext cx="1809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05 • 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Tools &amp; Technologies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1952625"/>
            <a:ext cx="41087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238375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Core programming language for data generation and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625" y="1952625"/>
            <a:ext cx="410891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Pandas &amp; 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625" y="2238375"/>
            <a:ext cx="32258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 cleaning, manipulation, and statistical computations.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775" y="1952625"/>
            <a:ext cx="394022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Matplotlib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1775" y="2238375"/>
            <a:ext cx="391306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Exploratory data visualization and pattern plotting.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262437"/>
            <a:ext cx="41087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Jupyter 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4548187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Interactive development environment for code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0625" y="4262437"/>
            <a:ext cx="410891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Microsoft 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0625" y="4548187"/>
            <a:ext cx="39132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Interactive dashboard design and KPI reporting.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1775" y="4262437"/>
            <a:ext cx="394022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1775" y="4548187"/>
            <a:ext cx="3225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Version control, repository management, and collaboration.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528887"/>
            <a:ext cx="24717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43287" y="2528887"/>
            <a:ext cx="24717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76975" y="2528887"/>
            <a:ext cx="24717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10662" y="2528887"/>
            <a:ext cx="2471737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3729037"/>
            <a:ext cx="5200650" cy="1047750"/>
          </a:xfrm>
          <a:prstGeom prst="roundRect">
            <a:avLst>
              <a:gd name="adj" fmla="val 10909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3729037"/>
            <a:ext cx="5181600" cy="104775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297656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297656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012" y="29765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850" y="417671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031" y="2747962"/>
            <a:ext cx="1428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906" y="2747962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7118" y="2747962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3948112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2062" y="3938587"/>
            <a:ext cx="2190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06 • PIPELINE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End-to-End Project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7000"/>
            <a:ext cx="666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20" y="3005137"/>
            <a:ext cx="27690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Source 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51" y="3243262"/>
            <a:ext cx="2637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GlobalWeatherRepository.csv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4608" y="3005137"/>
            <a:ext cx="27690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Selection &amp; Prep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0539" y="3243262"/>
            <a:ext cx="2637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Schema and field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8295" y="3005137"/>
            <a:ext cx="27690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Data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4226" y="3243262"/>
            <a:ext cx="2637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5,000 rows across 100 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983" y="3005137"/>
            <a:ext cx="27690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7914" y="3243262"/>
            <a:ext cx="2637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Null checks and cleaning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28" y="4205287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5. Data Analysis (EDA)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5737" y="4443412"/>
            <a:ext cx="6048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766E"/>
                </a:solidFill>
                <a:latin typeface="Plus Jakarta Sans"/>
              </a:rPr>
              <a:t>Statistical summary &amp; correlation (-0.47)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306" y="4195762"/>
            <a:ext cx="62245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6. Power BI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7412" y="4433887"/>
            <a:ext cx="6048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8BDF8"/>
                </a:solidFill>
                <a:latin typeface="Plus Jakarta Sans"/>
              </a:rPr>
              <a:t>Interactive KPI &amp; visualization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35733"/>
            <a:ext cx="5334000" cy="2234207"/>
          </a:xfrm>
          <a:prstGeom prst="roundRect">
            <a:avLst>
              <a:gd name="adj" fmla="val 68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35733"/>
            <a:ext cx="5334000" cy="2234207"/>
          </a:xfrm>
          <a:prstGeom prst="roundRect">
            <a:avLst>
              <a:gd name="adj" fmla="val 68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88158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888158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07 • 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Data Generation &amp; Preparation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288208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Container-Wise 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78733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Weather records were mapped across 100 distinct containers to simulate isolated environmental pods with designated timestamps and geographic coordinates.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288208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Important Distinction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678733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The timestamps used in this project are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generated timestamps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derived from prepared historical weather records—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not live real-time IoT sensor readings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54993"/>
            <a:ext cx="3530500" cy="1285875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1854993"/>
            <a:ext cx="3530649" cy="1285875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1854993"/>
            <a:ext cx="3530500" cy="1285875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164806"/>
            <a:ext cx="3530500" cy="1285875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30600" y="4193381"/>
            <a:ext cx="3530649" cy="1228725"/>
          </a:xfrm>
          <a:prstGeom prst="roundRect">
            <a:avLst>
              <a:gd name="adj" fmla="val 108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51750" y="4174331"/>
            <a:ext cx="3530500" cy="1266825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462" y="2112168"/>
            <a:ext cx="1047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601" y="2112168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750" y="2112168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175" y="4421981"/>
            <a:ext cx="1333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601" y="4450556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08 • EDA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Exploratory Data Analysis (EDA)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91875" y="6477000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131" y="2350293"/>
            <a:ext cx="386543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AVERAGE 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131" y="2540793"/>
            <a:ext cx="386543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26.37°C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113" y="2350293"/>
            <a:ext cx="38656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MINIMUM TEMPERATURE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3113" y="2540793"/>
            <a:ext cx="3865624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284C7"/>
                </a:solidFill>
                <a:latin typeface="Space Grotesk"/>
              </a:rPr>
              <a:t>-3.7°C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4281" y="2350293"/>
            <a:ext cx="386543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MAXIMUM 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4281" y="2540793"/>
            <a:ext cx="386543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E11D48"/>
                </a:solidFill>
                <a:latin typeface="Space Grotesk"/>
              </a:rPr>
              <a:t>49.1°C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131" y="4660106"/>
            <a:ext cx="386543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AVERAGE HUMIDITY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131" y="4850606"/>
            <a:ext cx="386543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Space Grotesk"/>
              </a:rPr>
              <a:t>55.01%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3113" y="4688681"/>
            <a:ext cx="38656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Plus Jakarta Sans"/>
              </a:rPr>
              <a:t>MIN / MAX HUMIDITY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3113" y="4879181"/>
            <a:ext cx="3865624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D9488"/>
                </a:solidFill>
                <a:latin typeface="Space Grotesk"/>
              </a:rPr>
              <a:t>3% – 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2375" y="4660106"/>
            <a:ext cx="3889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Plus Jakarta Sans"/>
              </a:rPr>
              <a:t>TEMP-HUMIDITY CORRELATION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375" y="4850606"/>
            <a:ext cx="38892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Space Grotesk"/>
              </a:rPr>
              <a:t>-0.47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10972800" cy="5029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152525"/>
            <a:ext cx="10953750" cy="5010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00825" y="857250"/>
            <a:ext cx="5591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Interactive report featuring KPIs, distribution charts, and geographic scatter plot.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5200" y="6477000"/>
            <a:ext cx="7429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5703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Plus Jakarta Sans"/>
              </a:rPr>
              <a:t>SECTION 09 •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598824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Microsoft Power BI Dashboard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D332C1-8823-F674-22CF-4AB799A66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152526"/>
            <a:ext cx="10953750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6253"/>
            <a:ext cx="5334000" cy="2493168"/>
          </a:xfrm>
          <a:prstGeom prst="roundRect">
            <a:avLst>
              <a:gd name="adj" fmla="val 61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35733"/>
            <a:ext cx="5334000" cy="2234207"/>
          </a:xfrm>
          <a:prstGeom prst="roundRect">
            <a:avLst>
              <a:gd name="adj" fmla="val 6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58678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888158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10 • ANALYTICAL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Findings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2825" y="6477000"/>
            <a:ext cx="6953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158728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Temperature-Humidity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49253"/>
            <a:ext cx="48006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The correlation coefficient of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-0.47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indicates a moderate negative relationship in this dataset—meaning as container temperature increases, relative humidity tends to decrease. </a:t>
            </a:r>
            <a:r>
              <a:rPr sz="1275" b="0" i="1" u="none">
                <a:solidFill>
                  <a:srgbClr val="475569"/>
                </a:solidFill>
                <a:latin typeface="Plus Jakarta Sans"/>
              </a:rPr>
              <a:t>(Note: This reflects correlation, not direct causation.)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288208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Climate Category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678733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Containers were segmented into four balanced quadrants relative to overall dataset averages: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Hot &amp; Dry (27%)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Cool &amp; Humid (26%)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Cool &amp; Dry (24%)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, and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Hot &amp; Humid (23%)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33650"/>
            <a:ext cx="3505200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19350"/>
            <a:ext cx="3505200" cy="246697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90800"/>
            <a:ext cx="3505200" cy="2124075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479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733675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905125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11 • SCOPE &amp;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Challenges &amp;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0" y="6477000"/>
            <a:ext cx="723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2289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Historical vs. Live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581400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This project is an analysis of prepared historical weather records and simulated container timestamps, not a live IoT sensor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1146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Economic Arbitrage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467100"/>
            <a:ext cx="3048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The project focuses on environmental classification and statistical patterns—it does not directly calculate actual transport costs, selling prices, or financial arbitrage profits.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286125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Geographic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638550"/>
            <a:ext cx="3048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Geographic coordinates are represented via a longitude-versus-latitude scatter plot rather than a fully interactive geospatial map overlay.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3531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6253"/>
            <a:ext cx="5334000" cy="2493168"/>
          </a:xfrm>
          <a:prstGeom prst="roundRect">
            <a:avLst>
              <a:gd name="adj" fmla="val 6112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406253"/>
            <a:ext cx="5334000" cy="2493168"/>
          </a:xfrm>
          <a:prstGeom prst="roundRect">
            <a:avLst>
              <a:gd name="adj" fmla="val 61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58678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758678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SECTION 12 • SUMMARY &amp;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0"/>
            <a:ext cx="3655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AtmoSync Final Project Review • Infotact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477000"/>
            <a:ext cx="723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Slide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158728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Project 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49253"/>
            <a:ext cx="48006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766E"/>
                </a:solidFill>
                <a:latin typeface="Plus Jakarta Sans"/>
              </a:rPr>
              <a:t>Successfully processed 5,000 records across 100 containers, executed rigorous EDA in Python, and built a comprehensive Microsoft Power BI dashboard at Infotact Solutions.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158728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Future Scope (Proposed)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549253"/>
            <a:ext cx="48006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Future improvements may include real-time IoT sensor integration, automated data pipelines, predictive weather forecasting models, and economic cost-optimization algorithms.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48037" y="4348162"/>
            <a:ext cx="5495925" cy="600075"/>
          </a:xfrm>
          <a:prstGeom prst="roundRect">
            <a:avLst>
              <a:gd name="adj" fmla="val 19047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909762"/>
            <a:ext cx="68580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100262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20765" y="2862262"/>
            <a:ext cx="3750468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1234" y="3681412"/>
            <a:ext cx="386953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Plus Jakarta Sans"/>
              </a:rPr>
              <a:t>Questions &amp; Viva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9203" y="4548187"/>
            <a:ext cx="5893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4A3B8"/>
                </a:solidFill>
                <a:latin typeface="Plus Jakarta Sans"/>
              </a:rPr>
              <a:t>AtmoSync: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Micro-Climate Arbitrage Analytics • Infotact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963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Plus Jakarta Sans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janhaviraut1505@gmail.com</cp:lastModifiedBy>
  <cp:revision>2</cp:revision>
  <dcterms:created xsi:type="dcterms:W3CDTF">2013-01-27T09:14:16Z</dcterms:created>
  <dcterms:modified xsi:type="dcterms:W3CDTF">2026-10-10T08:39:21Z</dcterms:modified>
  <cp:category/>
</cp:coreProperties>
</file>